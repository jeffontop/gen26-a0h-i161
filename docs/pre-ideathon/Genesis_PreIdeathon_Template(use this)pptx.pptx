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2" r:id="rId3"/>
  </p:sldMasterIdLst>
  <p:notesMasterIdLst>
    <p:notesMasterId r:id="rId5"/>
  </p:notesMasterIdLst>
  <p:sldIdLst>
    <p:sldId id="278" r:id="rId4"/>
    <p:sldId id="279" r:id="rId6"/>
    <p:sldId id="265" r:id="rId7"/>
    <p:sldId id="258" r:id="rId8"/>
    <p:sldId id="266" r:id="rId9"/>
    <p:sldId id="259" r:id="rId10"/>
    <p:sldId id="280" r:id="rId11"/>
    <p:sldId id="267" r:id="rId12"/>
    <p:sldId id="268" r:id="rId13"/>
    <p:sldId id="260" r:id="rId14"/>
    <p:sldId id="270" r:id="rId15"/>
    <p:sldId id="269" r:id="rId16"/>
    <p:sldId id="261" r:id="rId17"/>
    <p:sldId id="272" r:id="rId18"/>
    <p:sldId id="271" r:id="rId19"/>
    <p:sldId id="262" r:id="rId20"/>
    <p:sldId id="277" r:id="rId21"/>
    <p:sldId id="276" r:id="rId22"/>
    <p:sldId id="263" r:id="rId23"/>
    <p:sldId id="275" r:id="rId24"/>
    <p:sldId id="274" r:id="rId25"/>
    <p:sldId id="264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enesis Ideathon" id="{738414BB-E90B-39D7-38DA-935763612684}">
          <p14:sldIdLst>
            <p14:sldId id="278"/>
            <p14:sldId id="279"/>
            <p14:sldId id="265"/>
            <p14:sldId id="258"/>
            <p14:sldId id="266"/>
            <p14:sldId id="259"/>
            <p14:sldId id="280"/>
            <p14:sldId id="267"/>
            <p14:sldId id="268"/>
            <p14:sldId id="260"/>
            <p14:sldId id="270"/>
            <p14:sldId id="269"/>
            <p14:sldId id="261"/>
            <p14:sldId id="272"/>
            <p14:sldId id="271"/>
            <p14:sldId id="262"/>
            <p14:sldId id="277"/>
            <p14:sldId id="276"/>
            <p14:sldId id="263"/>
            <p14:sldId id="275"/>
            <p14:sldId id="274"/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42" y="1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NESIS COV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NESIS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535" y="320040"/>
            <a:ext cx="82296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Genesi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5950" y="384048"/>
            <a:ext cx="534131" cy="69494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2286000" y="6355080"/>
            <a:ext cx="761969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00" dirty="0">
                <a:solidFill>
                  <a:schemeClr val="accent6"/>
                </a:solidFill>
              </a:rPr>
              <a:t>Genesis Ideathon – Pre-Ideathon Template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1259007" y="6409944"/>
            <a:ext cx="457200" cy="395935"/>
          </a:xfrm>
          <a:prstGeom prst="hexagon">
            <a:avLst/>
          </a:prstGeom>
          <a:solidFill>
            <a:schemeClr val="accent3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 rot="5400000">
            <a:off x="10610311" y="4686300"/>
            <a:ext cx="1425408" cy="1234440"/>
          </a:xfrm>
          <a:prstGeom prst="hexagon">
            <a:avLst/>
          </a:prstGeom>
          <a:ln w="15875">
            <a:solidFill>
              <a:schemeClr val="accent4">
                <a:alpha val="28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 rot="5400000">
            <a:off x="9750599" y="5349240"/>
            <a:ext cx="950272" cy="822960"/>
          </a:xfrm>
          <a:prstGeom prst="hexagon">
            <a:avLst/>
          </a:prstGeom>
          <a:ln w="15875">
            <a:solidFill>
              <a:schemeClr val="accent4">
                <a:alpha val="20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 rot="5400000">
            <a:off x="11579399" y="3840480"/>
            <a:ext cx="950272" cy="822960"/>
          </a:xfrm>
          <a:prstGeom prst="hexagon">
            <a:avLst/>
          </a:prstGeom>
          <a:ln w="15875">
            <a:solidFill>
              <a:schemeClr val="accent4">
                <a:alpha val="18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ctr">
              <a:buNone/>
              <a:defRPr lang="en-US" sz="2400" b="1" kern="0" spc="100" dirty="0">
                <a:solidFill>
                  <a:schemeClr val="tx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ctr"/>
            <a:fld id="{F7021451-1387-4CA6-816F-3879F97B5CBC}" type="slidenum">
              <a:rPr lang="en-US" b="1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NESIS COV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NESIS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535" y="320040"/>
            <a:ext cx="82296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Genesi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5950" y="384048"/>
            <a:ext cx="534131" cy="69494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2286000" y="6355080"/>
            <a:ext cx="761969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00" dirty="0">
                <a:solidFill>
                  <a:schemeClr val="accent6"/>
                </a:solidFill>
              </a:rPr>
              <a:t>Genesis Ideathon – Pre-Ideathon Template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1259007" y="6409944"/>
            <a:ext cx="457200" cy="395935"/>
          </a:xfrm>
          <a:prstGeom prst="hexagon">
            <a:avLst/>
          </a:prstGeom>
          <a:solidFill>
            <a:schemeClr val="accent3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 rot="5400000">
            <a:off x="10610311" y="4686300"/>
            <a:ext cx="1425408" cy="1234440"/>
          </a:xfrm>
          <a:prstGeom prst="hexagon">
            <a:avLst/>
          </a:prstGeom>
          <a:ln w="15875">
            <a:solidFill>
              <a:schemeClr val="accent4">
                <a:alpha val="28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 rot="5400000">
            <a:off x="9750599" y="5349240"/>
            <a:ext cx="950272" cy="822960"/>
          </a:xfrm>
          <a:prstGeom prst="hexagon">
            <a:avLst/>
          </a:prstGeom>
          <a:ln w="15875">
            <a:solidFill>
              <a:schemeClr val="accent4">
                <a:alpha val="20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 rot="5400000">
            <a:off x="11579399" y="3840480"/>
            <a:ext cx="950272" cy="822960"/>
          </a:xfrm>
          <a:prstGeom prst="hexagon">
            <a:avLst/>
          </a:prstGeom>
          <a:ln w="15875">
            <a:solidFill>
              <a:schemeClr val="accent4">
                <a:alpha val="18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ctr">
              <a:buNone/>
              <a:defRPr lang="en-US" sz="2400" b="1" kern="0" spc="100" dirty="0">
                <a:solidFill>
                  <a:schemeClr val="tx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ctr"/>
            <a:fld id="{F7021451-1387-4CA6-816F-3879F97B5CBC}" type="slidenum">
              <a:rPr lang="en-US" b="1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ctr"/>
            <a:fld id="{F7021451-1387-4CA6-816F-3879F97B5CBC}" type="slidenum">
              <a:rPr lang="en-US" b="1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ctr"/>
            <a:fld id="{F7021451-1387-4CA6-816F-3879F97B5CBC}" type="slidenum">
              <a:rPr lang="en-US" b="1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5.jpe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7.jpe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 Hexagon"/>
          <p:cNvSpPr/>
          <p:nvPr/>
        </p:nvSpPr>
        <p:spPr>
          <a:xfrm rot="5400000">
            <a:off x="8841585" y="-1222527"/>
            <a:ext cx="3695502" cy="3200400"/>
          </a:xfrm>
          <a:prstGeom prst="hexagon">
            <a:avLst/>
          </a:prstGeom>
          <a:ln w="15875">
            <a:solidFill>
              <a:schemeClr val="accent4">
                <a:alpha val="5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Cover Hexagon"/>
          <p:cNvSpPr/>
          <p:nvPr/>
        </p:nvSpPr>
        <p:spPr>
          <a:xfrm rot="5400000">
            <a:off x="10524081" y="1691640"/>
            <a:ext cx="3695502" cy="3200400"/>
          </a:xfrm>
          <a:prstGeom prst="hexagon">
            <a:avLst/>
          </a:prstGeom>
          <a:solidFill>
            <a:schemeClr val="accent1">
              <a:alpha val="25000"/>
            </a:schemeClr>
          </a:solidFill>
          <a:ln w="15875">
            <a:solidFill>
              <a:schemeClr val="accent4">
                <a:alpha val="45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Cover Hexagon"/>
          <p:cNvSpPr/>
          <p:nvPr/>
        </p:nvSpPr>
        <p:spPr>
          <a:xfrm rot="5400000">
            <a:off x="8841585" y="4605807"/>
            <a:ext cx="3695502" cy="3200400"/>
          </a:xfrm>
          <a:prstGeom prst="hexagon">
            <a:avLst/>
          </a:prstGeom>
          <a:ln w="15875">
            <a:solidFill>
              <a:schemeClr val="accent4">
                <a:alpha val="5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Cover Hexagon"/>
          <p:cNvSpPr/>
          <p:nvPr/>
        </p:nvSpPr>
        <p:spPr>
          <a:xfrm rot="5400000">
            <a:off x="6613359" y="3177540"/>
            <a:ext cx="580722" cy="502920"/>
          </a:xfrm>
          <a:prstGeom prst="hexagon">
            <a:avLst/>
          </a:prstGeom>
          <a:solidFill>
            <a:schemeClr val="accent3"/>
          </a:solidFill>
        </p:spPr>
        <p:txBody>
          <a:bodyPr/>
          <a:lstStyle/>
          <a:p>
            <a:endParaRPr lang="en-IN"/>
          </a:p>
        </p:txBody>
      </p:sp>
      <p:sp>
        <p:nvSpPr>
          <p:cNvPr id="6" name="Cover Hexagon"/>
          <p:cNvSpPr/>
          <p:nvPr/>
        </p:nvSpPr>
        <p:spPr>
          <a:xfrm rot="5400000">
            <a:off x="10849583" y="1728216"/>
            <a:ext cx="337874" cy="292608"/>
          </a:xfrm>
          <a:prstGeom prst="hexagon">
            <a:avLst/>
          </a:prstGeom>
          <a:solidFill>
            <a:schemeClr val="accent3">
              <a:alpha val="70000"/>
            </a:schemeClr>
          </a:solidFill>
        </p:spPr>
        <p:txBody>
          <a:bodyPr/>
          <a:lstStyle/>
          <a:p>
            <a:endParaRPr lang="en-IN"/>
          </a:p>
        </p:txBody>
      </p:sp>
      <p:sp>
        <p:nvSpPr>
          <p:cNvPr id="7" name="Cover Hexagon"/>
          <p:cNvSpPr/>
          <p:nvPr/>
        </p:nvSpPr>
        <p:spPr>
          <a:xfrm rot="5400000">
            <a:off x="6868728" y="1440180"/>
            <a:ext cx="4276224" cy="3703320"/>
          </a:xfrm>
          <a:prstGeom prst="hexagon">
            <a:avLst/>
          </a:prstGeom>
          <a:solidFill>
            <a:schemeClr val="accent1">
              <a:alpha val="45000"/>
            </a:schemeClr>
          </a:solidFill>
        </p:spPr>
        <p:txBody>
          <a:bodyPr/>
          <a:lstStyle/>
          <a:p>
            <a:endParaRPr lang="en-IN"/>
          </a:p>
        </p:txBody>
      </p:sp>
      <p:sp>
        <p:nvSpPr>
          <p:cNvPr id="8" name="Cover Hexagon"/>
          <p:cNvSpPr/>
          <p:nvPr/>
        </p:nvSpPr>
        <p:spPr>
          <a:xfrm rot="5400000">
            <a:off x="6755697" y="4800600"/>
            <a:ext cx="844686" cy="731520"/>
          </a:xfrm>
          <a:prstGeom prst="hexagon">
            <a:avLst/>
          </a:prstGeom>
          <a:ln w="19050">
            <a:solidFill>
              <a:schemeClr val="accent3">
                <a:alpha val="65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Cover Hexagon"/>
          <p:cNvSpPr/>
          <p:nvPr/>
        </p:nvSpPr>
        <p:spPr>
          <a:xfrm rot="5400000">
            <a:off x="7159089" y="1691640"/>
            <a:ext cx="3695502" cy="3200400"/>
          </a:xfrm>
          <a:prstGeom prst="hexagon">
            <a:avLst/>
          </a:prstGeom>
          <a:solidFill>
            <a:schemeClr val="bg1"/>
          </a:solidFill>
          <a:ln w="381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Genesis Logo" descr="Genesis 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0766" y="2125980"/>
            <a:ext cx="1792148" cy="2331720"/>
          </a:xfrm>
          <a:prstGeom prst="rect">
            <a:avLst/>
          </a:prstGeom>
        </p:spPr>
      </p:pic>
      <p:sp>
        <p:nvSpPr>
          <p:cNvPr id="11" name="Kicker"/>
          <p:cNvSpPr txBox="1"/>
          <p:nvPr/>
        </p:nvSpPr>
        <p:spPr>
          <a:xfrm>
            <a:off x="548640" y="50292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chemeClr val="accent3"/>
                </a:solidFill>
              </a:rPr>
              <a:t>PRE-IDEATHON TEMPLATE</a:t>
            </a:r>
            <a:endParaRPr lang="en-US" sz="1200" dirty="0"/>
          </a:p>
        </p:txBody>
      </p:sp>
      <p:sp>
        <p:nvSpPr>
          <p:cNvPr id="12" name="Event Title"/>
          <p:cNvSpPr txBox="1"/>
          <p:nvPr/>
        </p:nvSpPr>
        <p:spPr>
          <a:xfrm>
            <a:off x="548640" y="868680"/>
            <a:ext cx="5669280" cy="1600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5400" b="1" kern="0" spc="200" dirty="0">
                <a:solidFill>
                  <a:schemeClr val="bg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GENESIS</a:t>
            </a:r>
            <a:endParaRPr lang="en-US" sz="54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5400" b="1" kern="0" spc="200" dirty="0">
                <a:solidFill>
                  <a:schemeClr val="accent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IDEATHON</a:t>
            </a:r>
            <a:endParaRPr lang="en-US" sz="5400" dirty="0"/>
          </a:p>
        </p:txBody>
      </p:sp>
      <p:sp>
        <p:nvSpPr>
          <p:cNvPr id="13" name="Section Chip"/>
          <p:cNvSpPr/>
          <p:nvPr/>
        </p:nvSpPr>
        <p:spPr>
          <a:xfrm>
            <a:off x="548640" y="2606040"/>
            <a:ext cx="2103120" cy="384048"/>
          </a:xfrm>
          <a:prstGeom prst="roundRect">
            <a:avLst>
              <a:gd name="adj" fmla="val 50000"/>
            </a:avLst>
          </a:prstGeom>
          <a:ln w="1587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chemeClr val="bg1"/>
                </a:solidFill>
              </a:rPr>
              <a:t>TEAM &amp; DOMAIN</a:t>
            </a:r>
            <a:endParaRPr lang="en-US" sz="1300" dirty="0"/>
          </a:p>
        </p:txBody>
      </p:sp>
      <p:sp>
        <p:nvSpPr>
          <p:cNvPr id="14" name="Cover Lead"/>
          <p:cNvSpPr txBox="1"/>
          <p:nvPr/>
        </p:nvSpPr>
        <p:spPr>
          <a:xfrm>
            <a:off x="548640" y="3108960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Introduce your team and the domain you have chosen</a:t>
            </a:r>
            <a:endParaRPr lang="en-US" sz="1600" dirty="0"/>
          </a:p>
        </p:txBody>
      </p:sp>
      <p:sp>
        <p:nvSpPr>
          <p:cNvPr id="15" name="Cover Fields"/>
          <p:cNvSpPr txBox="1"/>
          <p:nvPr/>
        </p:nvSpPr>
        <p:spPr>
          <a:xfrm>
            <a:off x="548640" y="3703320"/>
            <a:ext cx="6035040" cy="2651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Team Name – Byte Me</a:t>
            </a:r>
            <a:endParaRPr lang="en-US" sz="1800" dirty="0"/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Team Members – </a:t>
            </a:r>
            <a:r>
              <a:rPr lang="en-US" dirty="0">
                <a:solidFill>
                  <a:schemeClr val="bg1"/>
                </a:solidFill>
              </a:rPr>
              <a:t>Jeffrey Immanuel J – CB.EN.U4ARE26026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                               Jagan Sai Reddy - CB.AI.U4AIM26012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                               Gayathri T K - CB.AI.U4AIM26013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                               Yazhini B - CB.AI.U4AIM26062</a:t>
            </a:r>
            <a:endParaRPr lang="en-US" sz="1800" dirty="0"/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Selected Domain – #5</a:t>
            </a:r>
            <a:endParaRPr lang="en-US" sz="1800" dirty="0"/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Problem Statement – Generative Bio Digital Twin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DOMAIN PROBLEM IN OUR WORDS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Byte Me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</p:spPr>
        <p:txBody>
          <a:bodyPr/>
          <a:lstStyle/>
          <a:p>
            <a:endParaRPr lang="en-IN"/>
          </a:p>
        </p:txBody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Explain the problem in your domain simply, in your own words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914400" y="2148839"/>
            <a:ext cx="10378440" cy="416052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IN" b="1" dirty="0">
                <a:latin typeface="Times New Roman" panose="02020603050405020304" charset="0"/>
                <a:cs typeface="Times New Roman" panose="02020603050405020304" charset="0"/>
              </a:rPr>
              <a:t>What needs to be solved?</a:t>
            </a:r>
            <a:endParaRPr lang="en-IN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lvl="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charset="0"/>
                <a:cs typeface="Times New Roman" panose="02020603050405020304" charset="0"/>
              </a:rPr>
              <a:t>Developing climate-resilient crops still depends on months of costly trial and error. </a:t>
            </a:r>
            <a:endParaRPr lang="en-IN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lvl="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charset="0"/>
                <a:cs typeface="Times New Roman" panose="02020603050405020304" charset="0"/>
              </a:rPr>
              <a:t>Scientists need a faster way to identify and test genetic changes that improve drought resistance without reducing crop yield or quality. </a:t>
            </a:r>
            <a:endParaRPr lang="en-IN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lvl="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charset="0"/>
                <a:cs typeface="Times New Roman" panose="02020603050405020304" charset="0"/>
              </a:rPr>
              <a:t>We need to produce more food while working with limited land, water, and other resources. </a:t>
            </a:r>
            <a:endParaRPr lang="en-IN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r>
              <a:rPr lang="en-IN" b="1" dirty="0">
                <a:latin typeface="Times New Roman" panose="02020603050405020304" charset="0"/>
                <a:cs typeface="Times New Roman" panose="02020603050405020304" charset="0"/>
              </a:rPr>
              <a:t>Why is it important right now?</a:t>
            </a:r>
            <a:endParaRPr lang="en-IN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lvl="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charset="0"/>
                <a:cs typeface="Times New Roman" panose="02020603050405020304" charset="0"/>
              </a:rPr>
              <a:t>The global population is projected to reach around 9.7 billion by 2050. </a:t>
            </a:r>
            <a:endParaRPr lang="en-IN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lvl="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charset="0"/>
                <a:cs typeface="Times New Roman" panose="02020603050405020304" charset="0"/>
              </a:rPr>
              <a:t>Global food production may need to increase by around 60% by 2050 to meet growing demand. </a:t>
            </a:r>
            <a:endParaRPr lang="en-IN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lvl="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charset="0"/>
                <a:cs typeface="Times New Roman" panose="02020603050405020304" charset="0"/>
              </a:rPr>
              <a:t>Climate change is increasing pressure on agriculture through drought, changing weather patterns, and resource scarcity. </a:t>
            </a:r>
            <a:endParaRPr lang="en-IN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lvl="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charset="0"/>
                <a:cs typeface="Times New Roman" panose="02020603050405020304" charset="0"/>
              </a:rPr>
              <a:t>Traditional breeding and field testing take too long to keep pace with these challenges. </a:t>
            </a:r>
            <a:endParaRPr lang="en-IN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r>
              <a:rPr lang="en-IN" b="1" dirty="0">
                <a:latin typeface="Times New Roman" panose="02020603050405020304" charset="0"/>
                <a:cs typeface="Times New Roman" panose="02020603050405020304" charset="0"/>
              </a:rPr>
              <a:t>The core challenge</a:t>
            </a:r>
            <a:endParaRPr lang="en-IN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0000"/>
              </a:lnSpc>
            </a:pPr>
            <a:r>
              <a:rPr lang="en-IN" dirty="0">
                <a:latin typeface="Times New Roman" panose="02020603050405020304" charset="0"/>
                <a:cs typeface="Times New Roman" panose="02020603050405020304" charset="0"/>
              </a:rPr>
              <a:t>We need to grow more food, with fewer resources, in a climate that is becoming increasingly unpredictable.</a:t>
            </a:r>
            <a:endParaRPr lang="en-IN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ctr"/>
            <a:fld id="{F7021451-1387-4CA6-816F-3879F97B5CBC}" type="slidenum">
              <a:rPr lang="en-US" b="1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WHO IS AFFECTED?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r>
              <a:rPr lang="en-US" sz="1500" b="1" dirty="0">
                <a:solidFill>
                  <a:schemeClr val="accent1"/>
                </a:solidFill>
              </a:rPr>
              <a:t>Byte Me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</p:spPr>
        <p:txBody>
          <a:bodyPr/>
          <a:lstStyle/>
          <a:p>
            <a:endParaRPr lang="en-IN"/>
          </a:p>
        </p:txBody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  <a:latin typeface="Times New Roman" panose="02020603050405020304" charset="0"/>
                <a:cs typeface="Times New Roman" panose="02020603050405020304" charset="0"/>
              </a:rPr>
              <a:t>Target users, stakeholders, beneficiaries</a:t>
            </a:r>
            <a:endParaRPr lang="en-US" sz="1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Prompts"/>
          <p:cNvSpPr txBox="1"/>
          <p:nvPr/>
        </p:nvSpPr>
        <p:spPr>
          <a:xfrm>
            <a:off x="868680" y="1980565"/>
            <a:ext cx="7166610" cy="29406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IN" sz="1900" b="1" dirty="0">
                <a:latin typeface="Times New Roman" panose="02020603050405020304" charset="0"/>
                <a:cs typeface="Times New Roman" panose="02020603050405020304" charset="0"/>
              </a:rPr>
              <a:t>Primary Users / Target Group</a:t>
            </a:r>
            <a:endParaRPr lang="en-IN" sz="19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lvl="0">
              <a:lnSpc>
                <a:spcPct val="150000"/>
              </a:lnSpc>
            </a:pPr>
            <a:r>
              <a:rPr lang="en-IN" sz="1900" b="1" dirty="0">
                <a:latin typeface="Times New Roman" panose="02020603050405020304" charset="0"/>
                <a:cs typeface="Times New Roman" panose="02020603050405020304" charset="0"/>
              </a:rPr>
              <a:t>Agricultural Biotechnologists &amp; Plant Breeders </a:t>
            </a:r>
            <a:r>
              <a:rPr lang="en-IN" sz="1900" dirty="0">
                <a:latin typeface="Times New Roman" panose="02020603050405020304" charset="0"/>
                <a:cs typeface="Times New Roman" panose="02020603050405020304" charset="0"/>
              </a:rPr>
              <a:t>use AI driven analysis </a:t>
            </a:r>
            <a:endParaRPr lang="en-IN" sz="19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lvl="0">
              <a:lnSpc>
                <a:spcPct val="150000"/>
              </a:lnSpc>
            </a:pPr>
            <a:r>
              <a:rPr lang="en-IN" sz="1900" dirty="0">
                <a:latin typeface="Times New Roman" panose="02020603050405020304" charset="0"/>
                <a:cs typeface="Times New Roman" panose="02020603050405020304" charset="0"/>
              </a:rPr>
              <a:t>to identify promising gene targets and evaluate potential edits computationally.</a:t>
            </a:r>
            <a:endParaRPr lang="en-IN" sz="19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lvl="0">
              <a:lnSpc>
                <a:spcPct val="150000"/>
              </a:lnSpc>
            </a:pPr>
            <a:r>
              <a:rPr lang="en-IN" sz="1900" b="1" dirty="0" err="1">
                <a:latin typeface="Times New Roman" panose="02020603050405020304" charset="0"/>
                <a:cs typeface="Times New Roman" panose="02020603050405020304" charset="0"/>
              </a:rPr>
              <a:t>AgTech</a:t>
            </a:r>
            <a:r>
              <a:rPr lang="en-IN" sz="1900" b="1" dirty="0">
                <a:latin typeface="Times New Roman" panose="02020603050405020304" charset="0"/>
                <a:cs typeface="Times New Roman" panose="02020603050405020304" charset="0"/>
              </a:rPr>
              <a:t> &amp; Seed R&amp;D Companies </a:t>
            </a:r>
            <a:r>
              <a:rPr lang="en-IN" sz="1900" dirty="0">
                <a:latin typeface="Times New Roman" panose="02020603050405020304" charset="0"/>
                <a:cs typeface="Times New Roman" panose="02020603050405020304" charset="0"/>
              </a:rPr>
              <a:t>reduce costly trial and error by screening candidate edits before conducting physical experiments.</a:t>
            </a:r>
            <a:endParaRPr lang="en-IN" sz="19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lvl="0">
              <a:lnSpc>
                <a:spcPct val="150000"/>
              </a:lnSpc>
            </a:pPr>
            <a:r>
              <a:rPr lang="en-IN" sz="1900" b="1" dirty="0">
                <a:latin typeface="Times New Roman" panose="02020603050405020304" charset="0"/>
                <a:cs typeface="Times New Roman" panose="02020603050405020304" charset="0"/>
              </a:rPr>
              <a:t>Farmers &amp; Crop Growers </a:t>
            </a:r>
            <a:r>
              <a:rPr lang="en-IN" sz="1900" dirty="0">
                <a:latin typeface="Times New Roman" panose="02020603050405020304" charset="0"/>
                <a:cs typeface="Times New Roman" panose="02020603050405020304" charset="0"/>
              </a:rPr>
              <a:t>benefit from crop varieties developed for better resilience against drought, heat, and other regional climate stresses.</a:t>
            </a:r>
            <a:endParaRPr lang="en-IN" sz="19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ctr"/>
            <a:fld id="{F7021451-1387-4CA6-816F-3879F97B5CBC}" type="slidenum">
              <a:rPr lang="en-US" b="1"/>
            </a:fld>
            <a:endParaRPr lang="en-US"/>
          </a:p>
        </p:txBody>
      </p:sp>
      <p:pic>
        <p:nvPicPr>
          <p:cNvPr id="12" name="Picture 11"/>
          <p:cNvPicPr/>
          <p:nvPr/>
        </p:nvPicPr>
        <p:blipFill>
          <a:blip r:embed="rId3"/>
          <a:stretch>
            <a:fillRect/>
          </a:stretch>
        </p:blipFill>
        <p:spPr>
          <a:xfrm>
            <a:off x="8069580" y="1964690"/>
            <a:ext cx="3855085" cy="32042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WHO IS AFFECTED?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r>
              <a:rPr lang="en-US" sz="1500" b="1" dirty="0">
                <a:solidFill>
                  <a:schemeClr val="accent1"/>
                </a:solidFill>
              </a:rPr>
              <a:t>Byte Me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</p:spPr>
        <p:txBody>
          <a:bodyPr/>
          <a:lstStyle/>
          <a:p>
            <a:endParaRPr lang="en-IN"/>
          </a:p>
        </p:txBody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Target users, stakeholders, beneficiaries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1980565"/>
            <a:ext cx="6217920" cy="400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charset="0"/>
                <a:cs typeface="Times New Roman" panose="02020603050405020304" charset="0"/>
              </a:rPr>
              <a:t>Secondary Stakeholders</a:t>
            </a:r>
            <a:endParaRPr lang="en-IN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lvl="0">
              <a:lnSpc>
                <a:spcPct val="150000"/>
              </a:lnSpc>
            </a:pPr>
            <a:r>
              <a:rPr lang="en-IN" b="1" dirty="0">
                <a:latin typeface="Times New Roman" panose="02020603050405020304" charset="0"/>
                <a:cs typeface="Times New Roman" panose="02020603050405020304" charset="0"/>
              </a:rPr>
              <a:t>Consumers &amp; Food Retailers </a:t>
            </a:r>
            <a:r>
              <a:rPr lang="en-IN" dirty="0">
                <a:latin typeface="Times New Roman" panose="02020603050405020304" charset="0"/>
                <a:cs typeface="Times New Roman" panose="02020603050405020304" charset="0"/>
              </a:rPr>
              <a:t>benefit from more stable food supplies and potentially reduced price fluctuations caused by crop failures.</a:t>
            </a:r>
            <a:endParaRPr lang="en-IN" dirty="0">
              <a:latin typeface="Times New Roman" panose="02020603050405020304" charset="0"/>
              <a:cs typeface="Times New Roman" panose="02020603050405020304" charset="0"/>
            </a:endParaRPr>
          </a:p>
          <a:p>
            <a:pPr lvl="0">
              <a:lnSpc>
                <a:spcPct val="150000"/>
              </a:lnSpc>
            </a:pPr>
            <a:r>
              <a:rPr lang="en-IN" b="1" dirty="0">
                <a:latin typeface="Times New Roman" panose="02020603050405020304" charset="0"/>
                <a:cs typeface="Times New Roman" panose="02020603050405020304" charset="0"/>
              </a:rPr>
              <a:t>Agricultural Insurers &amp; Lenders </a:t>
            </a:r>
            <a:r>
              <a:rPr lang="en-IN" dirty="0">
                <a:latin typeface="Times New Roman" panose="02020603050405020304" charset="0"/>
                <a:cs typeface="Times New Roman" panose="02020603050405020304" charset="0"/>
              </a:rPr>
              <a:t>could experience lower financial </a:t>
            </a:r>
            <a:endParaRPr lang="en-IN" dirty="0">
              <a:latin typeface="Times New Roman" panose="02020603050405020304" charset="0"/>
              <a:cs typeface="Times New Roman" panose="02020603050405020304" charset="0"/>
            </a:endParaRP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charset="0"/>
                <a:cs typeface="Times New Roman" panose="02020603050405020304" charset="0"/>
              </a:rPr>
              <a:t>risk if climate resilient crops reduce severe agricultural losses.</a:t>
            </a:r>
            <a:endParaRPr lang="en-IN" dirty="0">
              <a:latin typeface="Times New Roman" panose="02020603050405020304" charset="0"/>
              <a:cs typeface="Times New Roman" panose="02020603050405020304" charset="0"/>
            </a:endParaRPr>
          </a:p>
          <a:p>
            <a:pPr lvl="0">
              <a:lnSpc>
                <a:spcPct val="150000"/>
              </a:lnSpc>
            </a:pPr>
            <a:r>
              <a:rPr lang="en-IN" b="1" dirty="0">
                <a:latin typeface="Times New Roman" panose="02020603050405020304" charset="0"/>
                <a:cs typeface="Times New Roman" panose="02020603050405020304" charset="0"/>
              </a:rPr>
              <a:t>Governments &amp; Environmental Organizations </a:t>
            </a:r>
            <a:r>
              <a:rPr lang="en-IN" dirty="0">
                <a:latin typeface="Times New Roman" panose="02020603050405020304" charset="0"/>
                <a:cs typeface="Times New Roman" panose="02020603050405020304" charset="0"/>
              </a:rPr>
              <a:t>benefit from improved food security planning and the potential for more</a:t>
            </a:r>
            <a:r>
              <a:rPr lang="en-US" altLang="en-IN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US" altLang="en-IN" dirty="0">
              <a:latin typeface="Times New Roman" panose="02020603050405020304" charset="0"/>
              <a:cs typeface="Times New Roman" panose="02020603050405020304" charset="0"/>
            </a:endParaRP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charset="0"/>
                <a:cs typeface="Times New Roman" panose="02020603050405020304" charset="0"/>
              </a:rPr>
              <a:t>efficient water and fertilizer use.</a:t>
            </a:r>
            <a:endParaRPr lang="en-IN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ctr"/>
            <a:fld id="{F7021451-1387-4CA6-816F-3879F97B5CBC}" type="slidenum">
              <a:rPr lang="en-US" b="1"/>
            </a:fld>
            <a:endParaRPr lang="en-US"/>
          </a:p>
        </p:txBody>
      </p:sp>
      <p:pic>
        <p:nvPicPr>
          <p:cNvPr id="11" name="Picture 10"/>
          <p:cNvPicPr/>
          <p:nvPr/>
        </p:nvPicPr>
        <p:blipFill>
          <a:blip r:embed="rId3"/>
          <a:stretch>
            <a:fillRect/>
          </a:stretch>
        </p:blipFill>
        <p:spPr>
          <a:xfrm>
            <a:off x="7092315" y="1859280"/>
            <a:ext cx="473583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WHO IS AFFECTED?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r>
              <a:rPr lang="en-US" sz="1500" b="1" dirty="0">
                <a:solidFill>
                  <a:schemeClr val="accent1"/>
                </a:solidFill>
              </a:rPr>
              <a:t>Byte Me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</p:spPr>
        <p:txBody>
          <a:bodyPr/>
          <a:lstStyle/>
          <a:p>
            <a:endParaRPr lang="en-IN"/>
          </a:p>
        </p:txBody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Target users, stakeholders, beneficiaries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148840"/>
            <a:ext cx="10424160" cy="285018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IN" sz="2800" b="1" dirty="0">
                <a:latin typeface="Times New Roman" panose="02020603050405020304" charset="0"/>
                <a:cs typeface="Times New Roman" panose="02020603050405020304" charset="0"/>
              </a:rPr>
              <a:t>Who benefits if the problem is solved?</a:t>
            </a:r>
            <a:endParaRPr lang="en-IN" sz="28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IN" sz="2800" dirty="0">
                <a:latin typeface="Times New Roman" panose="02020603050405020304" charset="0"/>
                <a:cs typeface="Times New Roman" panose="02020603050405020304" charset="0"/>
              </a:rPr>
              <a:t>The entire agricultural ecosystem benefits, from researchers developing improved crop varieties to farmers cultivating them and consumers relying on a stable food supply.</a:t>
            </a:r>
            <a:endParaRPr lang="en-IN" sz="2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ctr"/>
            <a:fld id="{F7021451-1387-4CA6-816F-3879F97B5CBC}" type="slidenum">
              <a:rPr lang="en-US" b="1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CURRENT SITUATION &amp; CONTEXT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r>
              <a:rPr lang="en-US" sz="1500" b="1" dirty="0">
                <a:solidFill>
                  <a:schemeClr val="accent1"/>
                </a:solidFill>
              </a:rPr>
              <a:t>Byte Me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</p:spPr>
        <p:txBody>
          <a:bodyPr/>
          <a:lstStyle/>
          <a:p>
            <a:endParaRPr lang="en-IN"/>
          </a:p>
        </p:txBody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Existing scenario, background and how things work today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148840"/>
            <a:ext cx="10424160" cy="3291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charset="0"/>
                <a:cs typeface="Times New Roman" panose="02020603050405020304" charset="0"/>
              </a:rPr>
              <a:t>Existing Scenario &amp; Background</a:t>
            </a:r>
            <a:endParaRPr lang="en-IN" sz="24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charset="0"/>
                <a:cs typeface="Times New Roman" panose="02020603050405020304" charset="0"/>
              </a:rPr>
              <a:t>Crop improvement is becoming increasingly challenging as </a:t>
            </a:r>
            <a:r>
              <a:rPr lang="en-IN" sz="2400" b="1" dirty="0">
                <a:latin typeface="Times New Roman" panose="02020603050405020304" charset="0"/>
                <a:cs typeface="Times New Roman" panose="02020603050405020304" charset="0"/>
              </a:rPr>
              <a:t>rising temperatures, droughts, and unpredictable weather </a:t>
            </a:r>
            <a:r>
              <a:rPr lang="en-IN" sz="2400" dirty="0">
                <a:latin typeface="Times New Roman" panose="02020603050405020304" charset="0"/>
                <a:cs typeface="Times New Roman" panose="02020603050405020304" charset="0"/>
              </a:rPr>
              <a:t>affect agricultural productivity. Current crop breeding and gene editing workflows still depend on </a:t>
            </a:r>
            <a:r>
              <a:rPr lang="en-IN" sz="2400" b="1" dirty="0">
                <a:latin typeface="Times New Roman" panose="02020603050405020304" charset="0"/>
                <a:cs typeface="Times New Roman" panose="02020603050405020304" charset="0"/>
              </a:rPr>
              <a:t>extensive laboratory experiments and field trials</a:t>
            </a:r>
            <a:r>
              <a:rPr lang="en-IN" sz="2400" dirty="0">
                <a:latin typeface="Times New Roman" panose="02020603050405020304" charset="0"/>
                <a:cs typeface="Times New Roman" panose="02020603050405020304" charset="0"/>
              </a:rPr>
              <a:t>, making it difficult to predict how genetic changes will perform under real environmental conditions.</a:t>
            </a:r>
            <a:endParaRPr lang="en-IN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endParaRPr lang="en-US" sz="1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ctr"/>
            <a:fld id="{F7021451-1387-4CA6-816F-3879F97B5CBC}" type="slidenum">
              <a:rPr lang="en-US" b="1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>
                <a:sym typeface="+mn-ea"/>
              </a:rPr>
              <a:t>CURRENT SITUATION &amp; CONTEXT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r>
              <a:rPr lang="en-US" sz="1500" b="1" dirty="0">
                <a:solidFill>
                  <a:schemeClr val="accent1"/>
                </a:solidFill>
              </a:rPr>
              <a:t>Byte Me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</p:spPr>
        <p:txBody>
          <a:bodyPr/>
          <a:lstStyle/>
          <a:p>
            <a:endParaRPr lang="en-IN"/>
          </a:p>
        </p:txBody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1980565"/>
            <a:ext cx="7333615" cy="400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endParaRPr lang="en-IN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ctr"/>
            <a:fld id="{F7021451-1387-4CA6-816F-3879F97B5CBC}" type="slidenum">
              <a:rPr lang="en-US" b="1"/>
            </a:fld>
            <a:endParaRPr lang="en-US"/>
          </a:p>
        </p:txBody>
      </p:sp>
      <p:pic>
        <p:nvPicPr>
          <p:cNvPr id="11" name="Picture 10" descr="watermark-removed-Gemini_Generated_Image_go9tgcgo9tgcgo9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020" y="1247140"/>
            <a:ext cx="9104630" cy="50126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CURRENT SITUATION &amp; CONTEXT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r>
              <a:rPr lang="en-US" sz="1500" b="1" dirty="0">
                <a:solidFill>
                  <a:schemeClr val="accent1"/>
                </a:solidFill>
              </a:rPr>
              <a:t>Byte Me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</p:spPr>
        <p:txBody>
          <a:bodyPr/>
          <a:lstStyle/>
          <a:p>
            <a:endParaRPr lang="en-IN"/>
          </a:p>
        </p:txBody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Existing scenario, background and how things work today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148840"/>
            <a:ext cx="10424160" cy="3291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IN" sz="2400" b="1" dirty="0">
                <a:latin typeface="Times New Roman" panose="02020603050405020304" charset="0"/>
                <a:cs typeface="Times New Roman" panose="02020603050405020304" charset="0"/>
              </a:rPr>
              <a:t>Relevant Data / Facts</a:t>
            </a:r>
            <a:endParaRPr lang="en-IN" sz="24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spcAft>
                <a:spcPts val="10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charset="0"/>
                <a:cs typeface="Times New Roman" panose="02020603050405020304" charset="0"/>
              </a:rPr>
              <a:t>The United Nations projects that the global population will approach </a:t>
            </a:r>
            <a:r>
              <a:rPr lang="en-IN" sz="2400" b="1" dirty="0">
                <a:latin typeface="Times New Roman" panose="02020603050405020304" charset="0"/>
                <a:cs typeface="Times New Roman" panose="02020603050405020304" charset="0"/>
              </a:rPr>
              <a:t>9.7 billion by 2050</a:t>
            </a:r>
            <a:r>
              <a:rPr lang="en-IN" sz="2400" dirty="0">
                <a:latin typeface="Times New Roman" panose="02020603050405020304" charset="0"/>
                <a:cs typeface="Times New Roman" panose="02020603050405020304" charset="0"/>
              </a:rPr>
              <a:t>, increasing pressure on food systems. </a:t>
            </a:r>
            <a:endParaRPr lang="en-IN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IN" sz="2400" dirty="0">
                <a:latin typeface="Times New Roman" panose="02020603050405020304" charset="0"/>
                <a:cs typeface="Times New Roman" panose="02020603050405020304" charset="0"/>
              </a:rPr>
              <a:t>The FAO estimates that global agriculture may need to produce approximately </a:t>
            </a:r>
            <a:r>
              <a:rPr lang="en-IN" sz="2400" b="1" dirty="0">
                <a:latin typeface="Times New Roman" panose="02020603050405020304" charset="0"/>
                <a:cs typeface="Times New Roman" panose="02020603050405020304" charset="0"/>
              </a:rPr>
              <a:t>50% more food, feed, and fibre by 2050</a:t>
            </a:r>
            <a:r>
              <a:rPr lang="en-IN" sz="2400" dirty="0">
                <a:latin typeface="Times New Roman" panose="02020603050405020304" charset="0"/>
                <a:cs typeface="Times New Roman" panose="02020603050405020304" charset="0"/>
              </a:rPr>
              <a:t> compared with 2012 levels.</a:t>
            </a:r>
            <a:endParaRPr lang="en-IN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IN" sz="2400" dirty="0">
                <a:latin typeface="Times New Roman" panose="02020603050405020304" charset="0"/>
                <a:cs typeface="Times New Roman" panose="02020603050405020304" charset="0"/>
              </a:rPr>
              <a:t>Climate stress and the interaction between genes and environmental conditions make the development of reliable, resilient crop varieties more challenging.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ctr"/>
            <a:fld id="{F7021451-1387-4CA6-816F-3879F97B5CBC}" type="slidenum">
              <a:rPr lang="en-US" b="1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CURRENT SITUATION &amp; CONTEXT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r>
              <a:rPr lang="en-US" sz="1500" b="1" dirty="0">
                <a:solidFill>
                  <a:schemeClr val="accent1"/>
                </a:solidFill>
              </a:rPr>
              <a:t>Byte Me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</p:spPr>
        <p:txBody>
          <a:bodyPr/>
          <a:lstStyle/>
          <a:p>
            <a:endParaRPr lang="en-IN"/>
          </a:p>
        </p:txBody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Existing scenario, background and how things work today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1980590"/>
            <a:ext cx="10424160" cy="4160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en-IN" sz="2550" b="1" dirty="0">
                <a:latin typeface="Times New Roman" panose="02020603050405020304" charset="0"/>
                <a:cs typeface="Times New Roman" panose="02020603050405020304" charset="0"/>
              </a:rPr>
              <a:t>Current Workflow — Step by Step</a:t>
            </a:r>
            <a:endParaRPr lang="en-IN" sz="255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IN" sz="2550" b="1" dirty="0">
                <a:latin typeface="Times New Roman" panose="02020603050405020304" charset="0"/>
                <a:cs typeface="Times New Roman" panose="02020603050405020304" charset="0"/>
              </a:rPr>
              <a:t>Gene Identification </a:t>
            </a:r>
            <a:r>
              <a:rPr lang="en-IN" sz="2550" dirty="0">
                <a:latin typeface="Times New Roman" panose="02020603050405020304" charset="0"/>
                <a:cs typeface="Times New Roman" panose="02020603050405020304" charset="0"/>
              </a:rPr>
              <a:t>- Researchers manually identify potential gene targets using genomic databases and scientific literature.</a:t>
            </a:r>
            <a:endParaRPr lang="en-IN" sz="25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IN" sz="2550" b="1" dirty="0">
                <a:latin typeface="Times New Roman" panose="02020603050405020304" charset="0"/>
                <a:cs typeface="Times New Roman" panose="02020603050405020304" charset="0"/>
              </a:rPr>
              <a:t>Edit Design </a:t>
            </a:r>
            <a:r>
              <a:rPr lang="en-IN" sz="2550" dirty="0">
                <a:latin typeface="Times New Roman" panose="02020603050405020304" charset="0"/>
                <a:cs typeface="Times New Roman" panose="02020603050405020304" charset="0"/>
              </a:rPr>
              <a:t>- Bioinformatics tools help design and assess candidate gene edits.</a:t>
            </a:r>
            <a:endParaRPr lang="en-IN" sz="25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IN" sz="2550" b="1" dirty="0">
                <a:latin typeface="Times New Roman" panose="02020603050405020304" charset="0"/>
                <a:cs typeface="Times New Roman" panose="02020603050405020304" charset="0"/>
              </a:rPr>
              <a:t>Laboratory Testing </a:t>
            </a:r>
            <a:r>
              <a:rPr lang="en-IN" sz="2550" dirty="0">
                <a:latin typeface="Times New Roman" panose="02020603050405020304" charset="0"/>
                <a:cs typeface="Times New Roman" panose="02020603050405020304" charset="0"/>
              </a:rPr>
              <a:t>- Researchers introduce selected edits into plant material and grow experimental plants.</a:t>
            </a:r>
            <a:endParaRPr lang="en-IN" sz="25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IN" sz="2550" b="1" dirty="0">
                <a:latin typeface="Times New Roman" panose="02020603050405020304" charset="0"/>
                <a:cs typeface="Times New Roman" panose="02020603050405020304" charset="0"/>
              </a:rPr>
              <a:t>Field Trials </a:t>
            </a:r>
            <a:r>
              <a:rPr lang="en-IN" sz="2550" dirty="0">
                <a:latin typeface="Times New Roman" panose="02020603050405020304" charset="0"/>
                <a:cs typeface="Times New Roman" panose="02020603050405020304" charset="0"/>
              </a:rPr>
              <a:t>- Plants are tested under real growing conditions to evaluate their performance.</a:t>
            </a:r>
            <a:endParaRPr lang="en-IN" sz="25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IN" sz="2550" b="1" dirty="0">
                <a:latin typeface="Times New Roman" panose="02020603050405020304" charset="0"/>
                <a:cs typeface="Times New Roman" panose="02020603050405020304" charset="0"/>
              </a:rPr>
              <a:t>Evaluation &amp; Repetition </a:t>
            </a:r>
            <a:r>
              <a:rPr lang="en-IN" sz="2550" dirty="0">
                <a:latin typeface="Times New Roman" panose="02020603050405020304" charset="0"/>
                <a:cs typeface="Times New Roman" panose="02020603050405020304" charset="0"/>
              </a:rPr>
              <a:t>- If the desired traits are not achieved, researchers revise the approach and repeat the process, increasing time and cost.</a:t>
            </a:r>
            <a:endParaRPr lang="en-IN" sz="25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79400" indent="-279400">
              <a:lnSpc>
                <a:spcPct val="150000"/>
              </a:lnSpc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endParaRPr 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ctr"/>
            <a:fld id="{F7021451-1387-4CA6-816F-3879F97B5CBC}" type="slidenum">
              <a:rPr lang="en-US" b="1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CHALLENGES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r>
              <a:rPr lang="en-US" sz="1500" b="1" dirty="0">
                <a:solidFill>
                  <a:schemeClr val="accent1"/>
                </a:solidFill>
              </a:rPr>
              <a:t>Byte Me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</p:spPr>
        <p:txBody>
          <a:bodyPr/>
          <a:lstStyle/>
          <a:p>
            <a:endParaRPr lang="en-IN"/>
          </a:p>
        </p:txBody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Main difficulties, bottlenecks, root causes and consequences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1874215"/>
            <a:ext cx="10424160" cy="39651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en-IN" sz="2600" b="1" dirty="0">
                <a:latin typeface="Times New Roman" panose="02020603050405020304" charset="0"/>
                <a:cs typeface="Times New Roman" panose="02020603050405020304" charset="0"/>
              </a:rPr>
              <a:t>Main Difficulties &amp; Bottlenecks</a:t>
            </a:r>
            <a:endParaRPr lang="en-IN" sz="26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charset="0"/>
                <a:cs typeface="Times New Roman" panose="02020603050405020304" charset="0"/>
              </a:rPr>
              <a:t>Long development cycles and expensive laboratory and field experiments.</a:t>
            </a:r>
            <a:endParaRPr lang="en-IN" sz="2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charset="0"/>
                <a:cs typeface="Times New Roman" panose="02020603050405020304" charset="0"/>
              </a:rPr>
              <a:t>Limited ability to predict how genetic modifications will perform under changing environmental conditions.</a:t>
            </a:r>
            <a:endParaRPr lang="en-IN" sz="2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charset="0"/>
                <a:cs typeface="Times New Roman" panose="02020603050405020304" charset="0"/>
              </a:rPr>
              <a:t>Potential trade offs between desirable traits, such as drought tolerance, crop yield, and quality.</a:t>
            </a:r>
            <a:endParaRPr lang="en-IN" sz="2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charset="0"/>
                <a:cs typeface="Times New Roman" panose="02020603050405020304" charset="0"/>
              </a:rPr>
              <a:t>Difficulty integrating genomic, environmental, and crop-performance data.</a:t>
            </a:r>
            <a:endParaRPr lang="en-IN" sz="2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ctr"/>
            <a:fld id="{F7021451-1387-4CA6-816F-3879F97B5CBC}" type="slidenum">
              <a:rPr lang="en-US" b="1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CHALLENGES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r>
              <a:rPr lang="en-US" sz="1500" b="1" dirty="0">
                <a:solidFill>
                  <a:schemeClr val="accent1"/>
                </a:solidFill>
              </a:rPr>
              <a:t>Byte Me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</p:spPr>
        <p:txBody>
          <a:bodyPr/>
          <a:lstStyle/>
          <a:p>
            <a:endParaRPr lang="en-IN"/>
          </a:p>
        </p:txBody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Main difficulties, bottlenecks, root causes and consequences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148840"/>
            <a:ext cx="10424160" cy="31857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en-IN" sz="2800" b="1" dirty="0">
                <a:latin typeface="Times New Roman" panose="02020603050405020304" charset="0"/>
                <a:cs typeface="Times New Roman" panose="02020603050405020304" charset="0"/>
              </a:rPr>
              <a:t>Root Causes</a:t>
            </a:r>
            <a:endParaRPr lang="en-IN" sz="28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charset="0"/>
                <a:cs typeface="Times New Roman" panose="02020603050405020304" charset="0"/>
              </a:rPr>
              <a:t>Existing bioinformatics tools often focus on individual stages of the genetic analysis workflow.</a:t>
            </a:r>
            <a:endParaRPr lang="en-IN" sz="2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charset="0"/>
                <a:cs typeface="Times New Roman" panose="02020603050405020304" charset="0"/>
              </a:rPr>
              <a:t>Environmental data and molecular level biological data are frequently stored and analysed separately.</a:t>
            </a:r>
            <a:endParaRPr lang="en-IN" sz="2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charset="0"/>
                <a:cs typeface="Times New Roman" panose="02020603050405020304" charset="0"/>
              </a:rPr>
              <a:t>Complex gene environment interactions are difficult to model using static datasets and conventional prediction methods.</a:t>
            </a:r>
            <a:endParaRPr lang="en-IN" sz="2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ctr"/>
            <a:fld id="{F7021451-1387-4CA6-816F-3879F97B5CBC}" type="slidenum">
              <a:rPr lang="en-US" b="1"/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CHALLENGES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r>
              <a:rPr lang="en-US" sz="1500" b="1" dirty="0">
                <a:solidFill>
                  <a:schemeClr val="accent1"/>
                </a:solidFill>
              </a:rPr>
              <a:t>Byte Me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</p:spPr>
        <p:txBody>
          <a:bodyPr/>
          <a:lstStyle/>
          <a:p>
            <a:endParaRPr lang="en-IN"/>
          </a:p>
        </p:txBody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Main difficulties, bottlenecks, root causes and consequences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148840"/>
            <a:ext cx="10424160" cy="30006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en-IN" sz="2800" b="1" dirty="0">
                <a:latin typeface="Times New Roman" panose="02020603050405020304" charset="0"/>
                <a:cs typeface="Times New Roman" panose="02020603050405020304" charset="0"/>
              </a:rPr>
              <a:t>Consequences of Leaving Them Unsolved</a:t>
            </a:r>
            <a:endParaRPr lang="en-IN" sz="28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charset="0"/>
                <a:cs typeface="Times New Roman" panose="02020603050405020304" charset="0"/>
              </a:rPr>
              <a:t>Crop development may struggle to keep pace with climate change. </a:t>
            </a:r>
            <a:endParaRPr lang="en-IN" sz="2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charset="0"/>
                <a:cs typeface="Times New Roman" panose="02020603050405020304" charset="0"/>
              </a:rPr>
              <a:t>Repeated experimental failures can increase research costs, expose farmers to greater crop-loss risks, and place additional pressure on global food security.</a:t>
            </a:r>
            <a:endParaRPr lang="en-IN" sz="2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ctr"/>
            <a:fld id="{F7021451-1387-4CA6-816F-3879F97B5CBC}" type="slidenum">
              <a:rPr lang="en-US" b="1"/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EXISTING SOLUTIONS / APPROACHES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r>
              <a:rPr lang="en-US" sz="1500" b="1" dirty="0">
                <a:solidFill>
                  <a:schemeClr val="accent1"/>
                </a:solidFill>
              </a:rPr>
              <a:t>Byte Me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</p:spPr>
        <p:txBody>
          <a:bodyPr/>
          <a:lstStyle/>
          <a:p>
            <a:endParaRPr lang="en-IN"/>
          </a:p>
        </p:txBody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What is already being done, and where it falls short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148839"/>
            <a:ext cx="10424160" cy="38188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en-IN" sz="2400" b="1" dirty="0">
                <a:latin typeface="Times New Roman" panose="02020603050405020304" charset="0"/>
                <a:cs typeface="Times New Roman" panose="02020603050405020304" charset="0"/>
              </a:rPr>
              <a:t>Existing Methods, Systems or Alternatives</a:t>
            </a:r>
            <a:endParaRPr lang="en-IN" sz="24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charset="0"/>
                <a:cs typeface="Times New Roman" panose="02020603050405020304" charset="0"/>
              </a:rPr>
              <a:t>CRISPR Design and Analysis Tools </a:t>
            </a:r>
            <a:r>
              <a:rPr lang="en-IN" sz="2400" dirty="0">
                <a:latin typeface="Times New Roman" panose="02020603050405020304" charset="0"/>
                <a:cs typeface="Times New Roman" panose="02020603050405020304" charset="0"/>
              </a:rPr>
              <a:t>support guide RNA design, sequence analysis, and assessment of potential off target effects.</a:t>
            </a:r>
            <a:endParaRPr lang="en-IN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charset="0"/>
                <a:cs typeface="Times New Roman" panose="02020603050405020304" charset="0"/>
              </a:rPr>
              <a:t>Computational Biology &amp; Multi Omics Analysis </a:t>
            </a:r>
            <a:r>
              <a:rPr lang="en-IN" sz="2400" dirty="0">
                <a:latin typeface="Times New Roman" panose="02020603050405020304" charset="0"/>
                <a:cs typeface="Times New Roman" panose="02020603050405020304" charset="0"/>
              </a:rPr>
              <a:t>help researchers investigate gene expression, biological pathways, and relationships between genes and traits.</a:t>
            </a:r>
            <a:endParaRPr lang="en-IN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charset="0"/>
                <a:cs typeface="Times New Roman" panose="02020603050405020304" charset="0"/>
              </a:rPr>
              <a:t>Agricultural IoT and Precision Farming Platforms </a:t>
            </a:r>
            <a:r>
              <a:rPr lang="en-IN" sz="2400" dirty="0">
                <a:latin typeface="Times New Roman" panose="02020603050405020304" charset="0"/>
                <a:cs typeface="Times New Roman" panose="02020603050405020304" charset="0"/>
              </a:rPr>
              <a:t>monitor field conditions such as temperature, soil moisture, humidity, and light intensity.</a:t>
            </a:r>
            <a:endParaRPr lang="en-IN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charset="0"/>
                <a:cs typeface="Times New Roman" panose="02020603050405020304" charset="0"/>
              </a:rPr>
              <a:t>Conventional Breeding and Field Trials </a:t>
            </a:r>
            <a:r>
              <a:rPr lang="en-IN" sz="2400" dirty="0">
                <a:latin typeface="Times New Roman" panose="02020603050405020304" charset="0"/>
                <a:cs typeface="Times New Roman" panose="02020603050405020304" charset="0"/>
              </a:rPr>
              <a:t>provide real-world evidence of crop performance under different growing conditions.</a:t>
            </a:r>
            <a:endParaRPr lang="en-IN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ctr"/>
            <a:fld id="{F7021451-1387-4CA6-816F-3879F97B5CBC}" type="slidenum">
              <a:rPr lang="en-US" b="1"/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EXISTING SOLUTIONS / APPROACHES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r>
              <a:rPr lang="en-US" sz="1500" b="1" dirty="0">
                <a:solidFill>
                  <a:schemeClr val="accent1"/>
                </a:solidFill>
              </a:rPr>
              <a:t>Byte Me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</p:spPr>
        <p:txBody>
          <a:bodyPr/>
          <a:lstStyle/>
          <a:p>
            <a:endParaRPr lang="en-IN"/>
          </a:p>
        </p:txBody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What is already being done, and where it falls short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148839"/>
            <a:ext cx="10424160" cy="353006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en-IN" sz="2400" b="1" dirty="0">
                <a:latin typeface="Times New Roman" panose="02020603050405020304" charset="0"/>
                <a:cs typeface="Times New Roman" panose="02020603050405020304" charset="0"/>
              </a:rPr>
              <a:t>Limitations of Each</a:t>
            </a:r>
            <a:endParaRPr lang="en-IN" sz="24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charset="0"/>
                <a:cs typeface="Times New Roman" panose="02020603050405020304" charset="0"/>
              </a:rPr>
              <a:t>CRISPR Tools </a:t>
            </a:r>
            <a:r>
              <a:rPr lang="en-IN" sz="2400" dirty="0">
                <a:latin typeface="Times New Roman" panose="02020603050405020304" charset="0"/>
                <a:cs typeface="Times New Roman" panose="02020603050405020304" charset="0"/>
              </a:rPr>
              <a:t>evaluate specific aspects of gene editing performance but generally do not predict complete crop performance across changing field environments.</a:t>
            </a:r>
            <a:endParaRPr lang="en-IN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charset="0"/>
                <a:cs typeface="Times New Roman" panose="02020603050405020304" charset="0"/>
              </a:rPr>
              <a:t>Multi Omics Tools </a:t>
            </a:r>
            <a:r>
              <a:rPr lang="en-IN" sz="2400" dirty="0">
                <a:latin typeface="Times New Roman" panose="02020603050405020304" charset="0"/>
                <a:cs typeface="Times New Roman" panose="02020603050405020304" charset="0"/>
              </a:rPr>
              <a:t>generate valuable biological insights, but integrating these findings into environmental predictions remains challenging.</a:t>
            </a:r>
            <a:endParaRPr lang="en-IN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charset="0"/>
                <a:cs typeface="Times New Roman" panose="02020603050405020304" charset="0"/>
              </a:rPr>
              <a:t>IoT Platforms </a:t>
            </a:r>
            <a:r>
              <a:rPr lang="en-IN" sz="2400" dirty="0">
                <a:latin typeface="Times New Roman" panose="02020603050405020304" charset="0"/>
                <a:cs typeface="Times New Roman" panose="02020603050405020304" charset="0"/>
              </a:rPr>
              <a:t>monitor field conditions but typically do not connect those measurements directly to molecular level genetic models.</a:t>
            </a:r>
            <a:endParaRPr lang="en-IN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charset="0"/>
                <a:cs typeface="Times New Roman" panose="02020603050405020304" charset="0"/>
              </a:rPr>
              <a:t>Field Trials </a:t>
            </a:r>
            <a:r>
              <a:rPr lang="en-IN" sz="2400" dirty="0">
                <a:latin typeface="Times New Roman" panose="02020603050405020304" charset="0"/>
                <a:cs typeface="Times New Roman" panose="02020603050405020304" charset="0"/>
              </a:rPr>
              <a:t>are essential for validation, but they require time, resources, and repeated experiments.</a:t>
            </a:r>
            <a:endParaRPr lang="en-IN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ctr"/>
            <a:fld id="{F7021451-1387-4CA6-816F-3879F97B5CBC}" type="slidenum">
              <a:rPr lang="en-US" b="1"/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EXISTING SOLUTIONS / APPROACHES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r>
              <a:rPr lang="en-US" sz="1500" b="1" dirty="0">
                <a:solidFill>
                  <a:schemeClr val="accent1"/>
                </a:solidFill>
              </a:rPr>
              <a:t>Byte Me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</p:spPr>
        <p:txBody>
          <a:bodyPr/>
          <a:lstStyle/>
          <a:p>
            <a:endParaRPr lang="en-IN"/>
          </a:p>
        </p:txBody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What is already being done, and where it falls short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148839"/>
            <a:ext cx="10424160" cy="264774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IN" sz="2600" b="1" dirty="0">
                <a:latin typeface="Times New Roman" panose="02020603050405020304" charset="0"/>
                <a:cs typeface="Times New Roman" panose="02020603050405020304" charset="0"/>
              </a:rPr>
              <a:t>The Gap They Leave Open (Our Opportunity)</a:t>
            </a:r>
            <a:endParaRPr lang="en-IN" sz="26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IN" sz="2600" dirty="0">
                <a:latin typeface="Times New Roman" panose="02020603050405020304" charset="0"/>
                <a:cs typeface="Times New Roman" panose="02020603050405020304" charset="0"/>
              </a:rPr>
              <a:t>There is an opportunity to </a:t>
            </a:r>
            <a:r>
              <a:rPr lang="en-IN" sz="2600" b="1" dirty="0">
                <a:latin typeface="Times New Roman" panose="02020603050405020304" charset="0"/>
                <a:cs typeface="Times New Roman" panose="02020603050405020304" charset="0"/>
              </a:rPr>
              <a:t>integrate multi omics data, AI based gene analysis, environmental information, and crop performance simulation into one interactive digital twin. </a:t>
            </a:r>
            <a:r>
              <a:rPr lang="en-IN" sz="2600" dirty="0">
                <a:latin typeface="Times New Roman" panose="02020603050405020304" charset="0"/>
                <a:cs typeface="Times New Roman" panose="02020603050405020304" charset="0"/>
              </a:rPr>
              <a:t>This platform would help researchers compare candidate genetic modifications under different climate scenarios before prioritising physical experiments.</a:t>
            </a:r>
            <a:endParaRPr lang="en-IN" sz="2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ctr"/>
            <a:fld id="{F7021451-1387-4CA6-816F-3879F97B5CBC}" type="slidenum">
              <a:rPr lang="en-US" b="1"/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PROBLEM INSIGHTS &amp; OPPORTUNITY AREAS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r>
              <a:rPr lang="en-US" sz="1500" b="1" dirty="0">
                <a:solidFill>
                  <a:schemeClr val="accent1"/>
                </a:solidFill>
              </a:rPr>
              <a:t>Byte Me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</p:spPr>
        <p:txBody>
          <a:bodyPr/>
          <a:lstStyle/>
          <a:p>
            <a:endParaRPr lang="en-IN"/>
          </a:p>
        </p:txBody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Resources required to solve the problem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148839"/>
            <a:ext cx="10424160" cy="39471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en-IN" sz="2800" b="1" dirty="0">
                <a:latin typeface="Times New Roman" panose="02020603050405020304" charset="0"/>
                <a:cs typeface="Times New Roman" panose="02020603050405020304" charset="0"/>
              </a:rPr>
              <a:t>Software Requirements</a:t>
            </a:r>
            <a:endParaRPr lang="en-IN" sz="2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charset="0"/>
                <a:cs typeface="Times New Roman" panose="02020603050405020304" charset="0"/>
              </a:rPr>
              <a:t>Bioinformatics &amp; CRISPR - </a:t>
            </a:r>
            <a:r>
              <a:rPr lang="en-IN" sz="2800" dirty="0" err="1">
                <a:latin typeface="Times New Roman" panose="02020603050405020304" charset="0"/>
                <a:cs typeface="Times New Roman" panose="02020603050405020304" charset="0"/>
              </a:rPr>
              <a:t>BioPython</a:t>
            </a:r>
            <a:r>
              <a:rPr lang="en-IN" sz="2800" dirty="0">
                <a:latin typeface="Times New Roman" panose="02020603050405020304" charset="0"/>
                <a:cs typeface="Times New Roman" panose="02020603050405020304" charset="0"/>
              </a:rPr>
              <a:t>, CRISPOR, </a:t>
            </a:r>
            <a:r>
              <a:rPr lang="en-IN" sz="2800" dirty="0" err="1">
                <a:latin typeface="Times New Roman" panose="02020603050405020304" charset="0"/>
                <a:cs typeface="Times New Roman" panose="02020603050405020304" charset="0"/>
              </a:rPr>
              <a:t>Ensembl</a:t>
            </a:r>
            <a:r>
              <a:rPr lang="en-IN" sz="2800" dirty="0">
                <a:latin typeface="Times New Roman" panose="02020603050405020304" charset="0"/>
                <a:cs typeface="Times New Roman" panose="02020603050405020304" charset="0"/>
              </a:rPr>
              <a:t> Plants.</a:t>
            </a:r>
            <a:endParaRPr lang="en-IN" sz="2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charset="0"/>
                <a:cs typeface="Times New Roman" panose="02020603050405020304" charset="0"/>
              </a:rPr>
              <a:t>Biological &amp; Climate Modelling - </a:t>
            </a:r>
            <a:r>
              <a:rPr lang="en-IN" sz="2800" dirty="0" err="1">
                <a:latin typeface="Times New Roman" panose="02020603050405020304" charset="0"/>
                <a:cs typeface="Times New Roman" panose="02020603050405020304" charset="0"/>
              </a:rPr>
              <a:t>COBRApy</a:t>
            </a:r>
            <a:r>
              <a:rPr lang="en-IN" sz="2800" dirty="0">
                <a:latin typeface="Times New Roman" panose="02020603050405020304" charset="0"/>
                <a:cs typeface="Times New Roman" panose="02020603050405020304" charset="0"/>
              </a:rPr>
              <a:t>, APSIM/DSSAT for metabolic pathways and crop performance prediction.</a:t>
            </a:r>
            <a:endParaRPr lang="en-IN" sz="2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charset="0"/>
                <a:cs typeface="Times New Roman" panose="02020603050405020304" charset="0"/>
              </a:rPr>
              <a:t>AI &amp; Development - </a:t>
            </a:r>
            <a:r>
              <a:rPr lang="en-IN" sz="2800" dirty="0" err="1">
                <a:latin typeface="Times New Roman" panose="02020603050405020304" charset="0"/>
                <a:cs typeface="Times New Roman" panose="02020603050405020304" charset="0"/>
              </a:rPr>
              <a:t>PyTorch</a:t>
            </a:r>
            <a:r>
              <a:rPr lang="en-IN" sz="2800" dirty="0">
                <a:latin typeface="Times New Roman" panose="02020603050405020304" charset="0"/>
                <a:cs typeface="Times New Roman" panose="02020603050405020304" charset="0"/>
              </a:rPr>
              <a:t>, scikit-learn, Python and React/Three.js for predictive modelling and digital twin visualisation.</a:t>
            </a:r>
            <a:endParaRPr lang="en-IN" sz="2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ctr"/>
            <a:fld id="{F7021451-1387-4CA6-816F-3879F97B5CBC}" type="slidenum">
              <a:rPr lang="en-US" b="1"/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PROBLEM INSIGHTS &amp; OPPORTUNITY AREAS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r>
              <a:rPr lang="en-US" sz="1500" b="1" dirty="0">
                <a:solidFill>
                  <a:schemeClr val="accent1"/>
                </a:solidFill>
              </a:rPr>
              <a:t>Byte Me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</p:spPr>
        <p:txBody>
          <a:bodyPr/>
          <a:lstStyle/>
          <a:p>
            <a:endParaRPr lang="en-IN"/>
          </a:p>
        </p:txBody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Resources required to solve the problem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148839"/>
            <a:ext cx="10424160" cy="39471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en-IN" sz="2800" b="1" dirty="0">
                <a:latin typeface="Times New Roman" panose="02020603050405020304" charset="0"/>
                <a:cs typeface="Times New Roman" panose="02020603050405020304" charset="0"/>
              </a:rPr>
              <a:t>Hardware &amp; Infrastructure</a:t>
            </a:r>
            <a:endParaRPr lang="en-IN" sz="2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charset="0"/>
                <a:cs typeface="Times New Roman" panose="02020603050405020304" charset="0"/>
              </a:rPr>
              <a:t>Workstation with 32–64 GB RAM and a dedicated GPU.</a:t>
            </a:r>
            <a:endParaRPr lang="en-IN" sz="2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charset="0"/>
                <a:cs typeface="Times New Roman" panose="02020603050405020304" charset="0"/>
              </a:rPr>
              <a:t>Cloud GPU/HPC for advanced AI and structural modelling.</a:t>
            </a:r>
            <a:endParaRPr lang="en-IN" sz="2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charset="0"/>
                <a:cs typeface="Times New Roman" panose="02020603050405020304" charset="0"/>
              </a:rPr>
              <a:t>IoT sensors for temperature, soil moisture, humidity and light.</a:t>
            </a:r>
            <a:endParaRPr lang="en-IN" sz="2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ctr"/>
            <a:fld id="{F7021451-1387-4CA6-816F-3879F97B5CBC}" type="slidenum">
              <a:rPr lang="en-US" b="1"/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PROBLEM INSIGHTS &amp; OPPORTUNITY AREAS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r>
              <a:rPr lang="en-US" sz="1500" b="1" dirty="0">
                <a:solidFill>
                  <a:schemeClr val="accent1"/>
                </a:solidFill>
              </a:rPr>
              <a:t>Byte Me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</p:spPr>
        <p:txBody>
          <a:bodyPr/>
          <a:lstStyle/>
          <a:p>
            <a:endParaRPr lang="en-IN"/>
          </a:p>
        </p:txBody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Resources required to solve the problem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148839"/>
            <a:ext cx="10424160" cy="39471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en-IN" sz="2800" b="1" dirty="0">
                <a:latin typeface="Times New Roman" panose="02020603050405020304" charset="0"/>
                <a:cs typeface="Times New Roman" panose="02020603050405020304" charset="0"/>
              </a:rPr>
              <a:t>Human Resources</a:t>
            </a:r>
            <a:endParaRPr lang="en-IN" sz="2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charset="0"/>
                <a:cs typeface="Times New Roman" panose="02020603050405020304" charset="0"/>
              </a:rPr>
              <a:t>Computational Biologist - </a:t>
            </a:r>
            <a:r>
              <a:rPr lang="en-IN" sz="2800" dirty="0">
                <a:latin typeface="Times New Roman" panose="02020603050405020304" charset="0"/>
                <a:cs typeface="Times New Roman" panose="02020603050405020304" charset="0"/>
              </a:rPr>
              <a:t>Gene and pathway analysis.</a:t>
            </a:r>
            <a:endParaRPr lang="en-IN" sz="2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charset="0"/>
                <a:cs typeface="Times New Roman" panose="02020603050405020304" charset="0"/>
              </a:rPr>
              <a:t>AI/ML Engineer - </a:t>
            </a:r>
            <a:r>
              <a:rPr lang="en-IN" sz="2800" dirty="0">
                <a:latin typeface="Times New Roman" panose="02020603050405020304" charset="0"/>
                <a:cs typeface="Times New Roman" panose="02020603050405020304" charset="0"/>
              </a:rPr>
              <a:t>Predictive models and multi omics integration.</a:t>
            </a:r>
            <a:endParaRPr lang="en-IN" sz="2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charset="0"/>
                <a:cs typeface="Times New Roman" panose="02020603050405020304" charset="0"/>
              </a:rPr>
              <a:t>Software Engineer - </a:t>
            </a:r>
            <a:r>
              <a:rPr lang="en-IN" sz="2800" dirty="0">
                <a:latin typeface="Times New Roman" panose="02020603050405020304" charset="0"/>
                <a:cs typeface="Times New Roman" panose="02020603050405020304" charset="0"/>
              </a:rPr>
              <a:t>Platform and dashboard development.</a:t>
            </a:r>
            <a:endParaRPr lang="en-IN" sz="2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charset="0"/>
                <a:cs typeface="Times New Roman" panose="02020603050405020304" charset="0"/>
              </a:rPr>
              <a:t>Agronomist - </a:t>
            </a:r>
            <a:r>
              <a:rPr lang="en-IN" sz="2800" dirty="0">
                <a:latin typeface="Times New Roman" panose="02020603050405020304" charset="0"/>
                <a:cs typeface="Times New Roman" panose="02020603050405020304" charset="0"/>
              </a:rPr>
              <a:t>Crop and climate simulation validation.</a:t>
            </a:r>
            <a:endParaRPr lang="en-IN" sz="2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ctr"/>
            <a:fld id="{F7021451-1387-4CA6-816F-3879F97B5CBC}" type="slidenum">
              <a:rPr lang="en-US" b="1"/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INITIAL DIRECTION &amp; EXPECTED OUTCOME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r>
              <a:rPr lang="en-US" sz="1500" b="1" dirty="0">
                <a:solidFill>
                  <a:schemeClr val="accent1"/>
                </a:solidFill>
              </a:rPr>
              <a:t>Byte Me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</p:spPr>
        <p:txBody>
          <a:bodyPr/>
          <a:lstStyle/>
          <a:p>
            <a:endParaRPr lang="en-IN"/>
          </a:p>
        </p:txBody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What Is Your Expected Outcome?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1919605"/>
            <a:ext cx="6095365" cy="43897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en-IN" sz="2600" b="1" dirty="0">
                <a:latin typeface="Times New Roman" panose="02020603050405020304" charset="0"/>
                <a:cs typeface="Times New Roman" panose="02020603050405020304" charset="0"/>
              </a:rPr>
              <a:t>What Our Team Intends to Do</a:t>
            </a:r>
            <a:endParaRPr lang="en-IN" sz="26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IN" sz="26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IN" sz="2000" dirty="0">
                <a:latin typeface="Times New Roman" panose="02020603050405020304" charset="0"/>
                <a:cs typeface="Times New Roman" panose="02020603050405020304" charset="0"/>
              </a:rPr>
              <a:t>Develop the </a:t>
            </a:r>
            <a:r>
              <a:rPr lang="en-IN" sz="2000" b="1" dirty="0">
                <a:latin typeface="Times New Roman" panose="02020603050405020304" charset="0"/>
                <a:cs typeface="Times New Roman" panose="02020603050405020304" charset="0"/>
              </a:rPr>
              <a:t>Generative Bio Digital Twin</a:t>
            </a:r>
            <a:r>
              <a:rPr lang="en-IN" sz="2000" dirty="0">
                <a:latin typeface="Times New Roman" panose="02020603050405020304" charset="0"/>
                <a:cs typeface="Times New Roman" panose="02020603050405020304" charset="0"/>
              </a:rPr>
              <a:t>, an AI powered platform that combines multi omics data, candidate gene editing analysis, and environmental information to simulate and compare the predicted performance of crop varieties under different climate conditions.</a:t>
            </a:r>
            <a:endParaRPr lang="en-IN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IN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IN" sz="2000" dirty="0">
                <a:latin typeface="Times New Roman" panose="02020603050405020304" charset="0"/>
                <a:cs typeface="Times New Roman" panose="02020603050405020304" charset="0"/>
              </a:rPr>
              <a:t>The platform will provide an interactive 3D crop model, environmental visualisations, and AI generated insights to support researchers in identifying promising candidates for further testing.</a:t>
            </a:r>
            <a:endParaRPr lang="en-IN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ctr"/>
            <a:fld id="{F7021451-1387-4CA6-816F-3879F97B5CBC}" type="slidenum">
              <a:rPr lang="en-US" b="1"/>
            </a:fld>
            <a:endParaRPr lang="en-US"/>
          </a:p>
        </p:txBody>
      </p:sp>
      <p:pic>
        <p:nvPicPr>
          <p:cNvPr id="11" name="Picture 10"/>
          <p:cNvPicPr/>
          <p:nvPr/>
        </p:nvPicPr>
        <p:blipFill>
          <a:blip r:embed="rId3"/>
          <a:stretch>
            <a:fillRect/>
          </a:stretch>
        </p:blipFill>
        <p:spPr>
          <a:xfrm>
            <a:off x="7374890" y="1198880"/>
            <a:ext cx="4398645" cy="515429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INITIAL DIRECTION &amp; EXPECTED OUTCOME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r>
              <a:rPr lang="en-US" sz="1500" b="1" dirty="0">
                <a:solidFill>
                  <a:schemeClr val="accent1"/>
                </a:solidFill>
              </a:rPr>
              <a:t>Byte Me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</p:spPr>
        <p:txBody>
          <a:bodyPr/>
          <a:lstStyle/>
          <a:p>
            <a:endParaRPr lang="en-IN"/>
          </a:p>
        </p:txBody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What Is Your Expected Outcome?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148839"/>
            <a:ext cx="10424160" cy="35300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en-IN" sz="2800" b="1" dirty="0">
                <a:latin typeface="Times New Roman" panose="02020603050405020304" charset="0"/>
                <a:cs typeface="Times New Roman" panose="02020603050405020304" charset="0"/>
              </a:rPr>
              <a:t>What We Want to Improve</a:t>
            </a:r>
            <a:endParaRPr lang="en-IN" sz="28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charset="0"/>
                <a:cs typeface="Times New Roman" panose="02020603050405020304" charset="0"/>
              </a:rPr>
              <a:t>Connect crop genetics with real world environmental conditions.</a:t>
            </a:r>
            <a:endParaRPr lang="en-IN" sz="2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charset="0"/>
                <a:cs typeface="Times New Roman" panose="02020603050405020304" charset="0"/>
              </a:rPr>
              <a:t>Reduce dependence on unguided trial and error during early stage research.</a:t>
            </a:r>
            <a:endParaRPr lang="en-IN" sz="2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charset="0"/>
                <a:cs typeface="Times New Roman" panose="02020603050405020304" charset="0"/>
              </a:rPr>
              <a:t>Make biological and environmental data easier to analyse through one integrated platform.</a:t>
            </a:r>
            <a:endParaRPr lang="en-IN" sz="2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charset="0"/>
                <a:cs typeface="Times New Roman" panose="02020603050405020304" charset="0"/>
              </a:rPr>
              <a:t>Help researchers prioritise promising edits before committing to resource-intensive physical experiments.</a:t>
            </a:r>
            <a:endParaRPr lang="en-IN" sz="2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ctr"/>
            <a:fld id="{F7021451-1387-4CA6-816F-3879F97B5CBC}" type="slidenum">
              <a:rPr lang="en-US" b="1"/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INITIAL DIRECTION &amp; EXPECTED OUTCOME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r>
              <a:rPr lang="en-US" sz="1500" b="1" dirty="0">
                <a:solidFill>
                  <a:schemeClr val="accent1"/>
                </a:solidFill>
              </a:rPr>
              <a:t>Byte Me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</p:spPr>
        <p:txBody>
          <a:bodyPr/>
          <a:lstStyle/>
          <a:p>
            <a:endParaRPr lang="en-IN"/>
          </a:p>
        </p:txBody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What Is Your Expected Outcome?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1919325"/>
            <a:ext cx="10424160" cy="43900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en-IN" sz="2600" b="1" dirty="0">
                <a:latin typeface="Times New Roman" panose="02020603050405020304" charset="0"/>
                <a:cs typeface="Times New Roman" panose="02020603050405020304" charset="0"/>
              </a:rPr>
              <a:t>What Successful Improvement Should We Achieve?</a:t>
            </a:r>
            <a:endParaRPr lang="en-IN" sz="26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IN" sz="2600" dirty="0">
                <a:latin typeface="Times New Roman" panose="02020603050405020304" charset="0"/>
                <a:cs typeface="Times New Roman" panose="02020603050405020304" charset="0"/>
              </a:rPr>
              <a:t>Our initial goal is to demonstrate a working prototype that accepts biological and environmental data, compares candidate crop modifications across selected climate scenarios, and produces interpretable predictions of potential crop performance.</a:t>
            </a:r>
            <a:endParaRPr lang="en-IN" sz="26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IN" sz="26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IN" sz="2600" dirty="0">
                <a:latin typeface="Times New Roman" panose="02020603050405020304" charset="0"/>
                <a:cs typeface="Times New Roman" panose="02020603050405020304" charset="0"/>
              </a:rPr>
              <a:t>This could help accelerate early stage screening, reduce avoidable experimental costs, and support the development of climate resilient crops. </a:t>
            </a:r>
            <a:r>
              <a:rPr lang="en-IN" sz="2600" b="1" dirty="0">
                <a:latin typeface="Times New Roman" panose="02020603050405020304" charset="0"/>
                <a:cs typeface="Times New Roman" panose="02020603050405020304" charset="0"/>
              </a:rPr>
              <a:t>Laboratory testing and field trials would remain necessary to verify the predictions.</a:t>
            </a:r>
            <a:endParaRPr lang="en-IN" sz="26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ctr"/>
            <a:fld id="{F7021451-1387-4CA6-816F-3879F97B5CBC}" type="slidenum">
              <a:rPr lang="en-US" b="1"/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TEAM CONTRIBUTION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r>
              <a:rPr lang="en-US" sz="1500" b="1" dirty="0">
                <a:solidFill>
                  <a:schemeClr val="accent1"/>
                </a:solidFill>
              </a:rPr>
              <a:t>Byte Me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</p:spPr>
        <p:txBody>
          <a:bodyPr/>
          <a:lstStyle/>
          <a:p>
            <a:endParaRPr lang="en-IN"/>
          </a:p>
        </p:txBody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Who will handle which part of the execution</a:t>
            </a:r>
            <a:endParaRPr lang="en-US" sz="1800" dirty="0"/>
          </a:p>
        </p:txBody>
      </p:sp>
      <p:graphicFrame>
        <p:nvGraphicFramePr>
          <p:cNvPr id="10" name="Team Contribution Table"/>
          <p:cNvGraphicFramePr>
            <a:graphicFrameLocks noGrp="1"/>
          </p:cNvGraphicFramePr>
          <p:nvPr/>
        </p:nvGraphicFramePr>
        <p:xfrm>
          <a:off x="548640" y="2194560"/>
          <a:ext cx="11094415" cy="3474720"/>
        </p:xfrm>
        <a:graphic>
          <a:graphicData uri="http://schemas.openxmlformats.org/drawingml/2006/table">
            <a:tbl>
              <a:tblPr/>
              <a:tblGrid>
                <a:gridCol w="3017520"/>
                <a:gridCol w="2560320"/>
                <a:gridCol w="5516575"/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Team Member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Role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Responsibility in Execution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Jeffrey Immanuel J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Biology and research 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Active research 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Yazhini B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Ai/ml and evaluation 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Dataset preparation,baseline model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Jagan sai reddy 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Crop Modelling 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Real time scenario and feasability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Gayathri T K 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Research and review 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Crop,drought traits and biological assumptions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ctr"/>
            <a:fld id="{F7021451-1387-4CA6-816F-3879F97B5CBC}" type="slidenum">
              <a:rPr lang="en-US" b="1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nesis Ideathon">
  <a:themeElements>
    <a:clrScheme name="Genesis Ideathon">
      <a:dk1>
        <a:srgbClr val="0E2A2F"/>
      </a:dk1>
      <a:lt1>
        <a:srgbClr val="FFFFFF"/>
      </a:lt1>
      <a:dk2>
        <a:srgbClr val="052B35"/>
      </a:dk2>
      <a:lt2>
        <a:srgbClr val="F3F8F5"/>
      </a:lt2>
      <a:accent1>
        <a:srgbClr val="026855"/>
      </a:accent1>
      <a:accent2>
        <a:srgbClr val="094542"/>
      </a:accent2>
      <a:accent3>
        <a:srgbClr val="7AC143"/>
      </a:accent3>
      <a:accent4>
        <a:srgbClr val="4FA278"/>
      </a:accent4>
      <a:accent5>
        <a:srgbClr val="5B6F6B"/>
      </a:accent5>
      <a:accent6>
        <a:srgbClr val="D3E6DD"/>
      </a:accent6>
      <a:hlink>
        <a:srgbClr val="026855"/>
      </a:hlink>
      <a:folHlink>
        <a:srgbClr val="5B6F6B"/>
      </a:folHlink>
    </a:clrScheme>
    <a:fontScheme name="Genesis Ideath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Genesis Ideathon">
  <a:themeElements>
    <a:clrScheme name="Genesis Ideathon">
      <a:dk1>
        <a:srgbClr val="0E2A2F"/>
      </a:dk1>
      <a:lt1>
        <a:srgbClr val="FFFFFF"/>
      </a:lt1>
      <a:dk2>
        <a:srgbClr val="052B35"/>
      </a:dk2>
      <a:lt2>
        <a:srgbClr val="F3F8F5"/>
      </a:lt2>
      <a:accent1>
        <a:srgbClr val="026855"/>
      </a:accent1>
      <a:accent2>
        <a:srgbClr val="094542"/>
      </a:accent2>
      <a:accent3>
        <a:srgbClr val="7AC143"/>
      </a:accent3>
      <a:accent4>
        <a:srgbClr val="4FA278"/>
      </a:accent4>
      <a:accent5>
        <a:srgbClr val="5B6F6B"/>
      </a:accent5>
      <a:accent6>
        <a:srgbClr val="D3E6DD"/>
      </a:accent6>
      <a:hlink>
        <a:srgbClr val="026855"/>
      </a:hlink>
      <a:folHlink>
        <a:srgbClr val="5B6F6B"/>
      </a:folHlink>
    </a:clrScheme>
    <a:fontScheme name="Genesis Ideath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10400</Words>
  <Application>WPS Presentation</Application>
  <PresentationFormat>Widescreen</PresentationFormat>
  <Paragraphs>339</Paragraphs>
  <Slides>22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39" baseType="lpstr">
      <vt:lpstr>Arial</vt:lpstr>
      <vt:lpstr>SimSun</vt:lpstr>
      <vt:lpstr>Wingdings</vt:lpstr>
      <vt:lpstr>Calibri</vt:lpstr>
      <vt:lpstr>Cambria</vt:lpstr>
      <vt:lpstr>Cambria</vt:lpstr>
      <vt:lpstr>Cambria</vt:lpstr>
      <vt:lpstr>Times New Roman</vt:lpstr>
      <vt:lpstr>Microsoft YaHei</vt:lpstr>
      <vt:lpstr>Arial Unicode MS</vt:lpstr>
      <vt:lpstr>Aptos</vt:lpstr>
      <vt:lpstr>Segoe UI</vt:lpstr>
      <vt:lpstr>Calibri</vt:lpstr>
      <vt:lpstr>Calibri</vt:lpstr>
      <vt:lpstr>Calibri</vt:lpstr>
      <vt:lpstr>Genesis Ideathon</vt:lpstr>
      <vt:lpstr>1_Genesis Ideathon</vt:lpstr>
      <vt:lpstr>PowerPoint 演示文稿</vt:lpstr>
      <vt:lpstr>DOMAIN PROBLEM IN OUR WORDS</vt:lpstr>
      <vt:lpstr>WHO IS AFFECTED?</vt:lpstr>
      <vt:lpstr>WHO IS AFFECTED?</vt:lpstr>
      <vt:lpstr>WHO IS AFFECTED?</vt:lpstr>
      <vt:lpstr>CURRENT SITUATION &amp; CONTEXT</vt:lpstr>
      <vt:lpstr>CURRENT SITUATION &amp; CONTEXT</vt:lpstr>
      <vt:lpstr>CURRENT SITUATION &amp; CONTEXT</vt:lpstr>
      <vt:lpstr>CURRENT SITUATION &amp; CONTEXT</vt:lpstr>
      <vt:lpstr>KEY CHALLENGES</vt:lpstr>
      <vt:lpstr>KEY CHALLENGES</vt:lpstr>
      <vt:lpstr>KEY CHALLENGES</vt:lpstr>
      <vt:lpstr>EXISTING SOLUTIONS / APPROACHES</vt:lpstr>
      <vt:lpstr>EXISTING SOLUTIONS / APPROACHES</vt:lpstr>
      <vt:lpstr>EXISTING SOLUTIONS / APPROACHES</vt:lpstr>
      <vt:lpstr>PROBLEM INSIGHTS &amp; OPPORTUNITY AREAS</vt:lpstr>
      <vt:lpstr>PROBLEM INSIGHTS &amp; OPPORTUNITY AREAS</vt:lpstr>
      <vt:lpstr>PROBLEM INSIGHTS &amp; OPPORTUNITY AREAS</vt:lpstr>
      <vt:lpstr>INITIAL DIRECTION &amp; EXPECTED OUTCOME</vt:lpstr>
      <vt:lpstr>INITIAL DIRECTION &amp; EXPECTED OUTCOME</vt:lpstr>
      <vt:lpstr>INITIAL DIRECTION &amp; EXPECTED OUTCOME</vt:lpstr>
      <vt:lpstr>TEAM CONTRIBUTION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Genesis Ideathon – Pre-Ideathon Template</dc:title>
  <dc:creator>Genesis Ideathon</dc:creator>
  <dc:subject>PptxGenJS Presentation</dc:subject>
  <cp:lastModifiedBy>HI</cp:lastModifiedBy>
  <cp:revision>7</cp:revision>
  <dcterms:created xsi:type="dcterms:W3CDTF">2026-10-07T15:27:00Z</dcterms:created>
  <dcterms:modified xsi:type="dcterms:W3CDTF">2026-10-10T10:01:08Z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6FA8994446864F06B80C54A58A177258_13</vt:lpwstr>
  </property>
</Properties>
</file>